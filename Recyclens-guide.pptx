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obby Jones Soft" charset="1" panose="00000000000000000000"/>
      <p:regular r:id="rId22"/>
    </p:embeddedFont>
    <p:embeddedFont>
      <p:font typeface="VAG Rounded Next Bold" charset="1" panose="020F0802020203020204"/>
      <p:regular r:id="rId23"/>
    </p:embeddedFont>
    <p:embeddedFont>
      <p:font typeface="VAG Rounded Next" charset="1" panose="020F0502020203020204"/>
      <p:regular r:id="rId24"/>
    </p:embeddedFont>
    <p:embeddedFont>
      <p:font typeface="Gagalin" charset="1" panose="00000500000000000000"/>
      <p:regular r:id="rId25"/>
    </p:embeddedFont>
    <p:embeddedFont>
      <p:font typeface="Georgia Pro" charset="1" panose="02040502050405020303"/>
      <p:regular r:id="rId26"/>
    </p:embeddedFont>
    <p:embeddedFont>
      <p:font typeface="Georgia Pro Bold" charset="1" panose="02040802050405020203"/>
      <p:regular r:id="rId27"/>
    </p:embeddedFont>
    <p:embeddedFont>
      <p:font typeface="Arimo" charset="1" panose="020B0604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14.png" Type="http://schemas.openxmlformats.org/officeDocument/2006/relationships/image"/><Relationship Id="rId5" Target="../media/image8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2.png" Type="http://schemas.openxmlformats.org/officeDocument/2006/relationships/image"/><Relationship Id="rId5" Target="../media/image8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16.png" Type="http://schemas.openxmlformats.org/officeDocument/2006/relationships/image"/><Relationship Id="rId5" Target="../media/image14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14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14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17.png" Type="http://schemas.openxmlformats.org/officeDocument/2006/relationships/image"/><Relationship Id="rId5" Target="../media/image14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8.png" Type="http://schemas.openxmlformats.org/officeDocument/2006/relationships/image"/><Relationship Id="rId5" Target="../media/image15.png" Type="http://schemas.openxmlformats.org/officeDocument/2006/relationships/image"/><Relationship Id="rId6" Target="../media/image3.pn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8.png" Type="http://schemas.openxmlformats.org/officeDocument/2006/relationships/image"/><Relationship Id="rId5" Target="../media/image15.png" Type="http://schemas.openxmlformats.org/officeDocument/2006/relationships/image"/><Relationship Id="rId6" Target="../media/image3.png" Type="http://schemas.openxmlformats.org/officeDocument/2006/relationships/image"/><Relationship Id="rId7" Target="../media/image20.jpeg" Type="http://schemas.openxmlformats.org/officeDocument/2006/relationships/image"/><Relationship Id="rId8" Target="http://10.2.97.48:8501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8.png" Type="http://schemas.openxmlformats.org/officeDocument/2006/relationships/image"/><Relationship Id="rId5" Target="../media/image15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7.png" Type="http://schemas.openxmlformats.org/officeDocument/2006/relationships/image"/><Relationship Id="rId5" Target="../media/image5.png" Type="http://schemas.openxmlformats.org/officeDocument/2006/relationships/image"/><Relationship Id="rId6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15903">
            <a:off x="13913629" y="1711447"/>
            <a:ext cx="6165856" cy="6165856"/>
          </a:xfrm>
          <a:custGeom>
            <a:avLst/>
            <a:gdLst/>
            <a:ahLst/>
            <a:cxnLst/>
            <a:rect r="r" b="b" t="t" l="l"/>
            <a:pathLst>
              <a:path h="6165856" w="6165856">
                <a:moveTo>
                  <a:pt x="0" y="0"/>
                </a:moveTo>
                <a:lnTo>
                  <a:pt x="6165856" y="0"/>
                </a:lnTo>
                <a:lnTo>
                  <a:pt x="6165856" y="6165855"/>
                </a:lnTo>
                <a:lnTo>
                  <a:pt x="0" y="6165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540542" y="1851714"/>
            <a:ext cx="2309480" cy="6349086"/>
          </a:xfrm>
          <a:custGeom>
            <a:avLst/>
            <a:gdLst/>
            <a:ahLst/>
            <a:cxnLst/>
            <a:rect r="r" b="b" t="t" l="l"/>
            <a:pathLst>
              <a:path h="6349086" w="2309480">
                <a:moveTo>
                  <a:pt x="0" y="0"/>
                </a:moveTo>
                <a:lnTo>
                  <a:pt x="2309480" y="0"/>
                </a:lnTo>
                <a:lnTo>
                  <a:pt x="2309480" y="6349086"/>
                </a:lnTo>
                <a:lnTo>
                  <a:pt x="0" y="63490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9148319">
            <a:off x="3943944" y="-1555898"/>
            <a:ext cx="4678366" cy="3403511"/>
          </a:xfrm>
          <a:custGeom>
            <a:avLst/>
            <a:gdLst/>
            <a:ahLst/>
            <a:cxnLst/>
            <a:rect r="r" b="b" t="t" l="l"/>
            <a:pathLst>
              <a:path h="3403511" w="4678366">
                <a:moveTo>
                  <a:pt x="0" y="0"/>
                </a:moveTo>
                <a:lnTo>
                  <a:pt x="4678366" y="0"/>
                </a:lnTo>
                <a:lnTo>
                  <a:pt x="4678366" y="3403511"/>
                </a:lnTo>
                <a:lnTo>
                  <a:pt x="0" y="34035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57951">
            <a:off x="-2065105" y="6365812"/>
            <a:ext cx="4635212" cy="5784976"/>
          </a:xfrm>
          <a:custGeom>
            <a:avLst/>
            <a:gdLst/>
            <a:ahLst/>
            <a:cxnLst/>
            <a:rect r="r" b="b" t="t" l="l"/>
            <a:pathLst>
              <a:path h="5784976" w="4635212">
                <a:moveTo>
                  <a:pt x="0" y="0"/>
                </a:moveTo>
                <a:lnTo>
                  <a:pt x="4635212" y="0"/>
                </a:lnTo>
                <a:lnTo>
                  <a:pt x="4635212" y="5784976"/>
                </a:lnTo>
                <a:lnTo>
                  <a:pt x="0" y="5784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167848" y="145857"/>
            <a:ext cx="5384516" cy="6189099"/>
          </a:xfrm>
          <a:custGeom>
            <a:avLst/>
            <a:gdLst/>
            <a:ahLst/>
            <a:cxnLst/>
            <a:rect r="r" b="b" t="t" l="l"/>
            <a:pathLst>
              <a:path h="6189099" w="5384516">
                <a:moveTo>
                  <a:pt x="0" y="0"/>
                </a:moveTo>
                <a:lnTo>
                  <a:pt x="5384516" y="0"/>
                </a:lnTo>
                <a:lnTo>
                  <a:pt x="5384516" y="6189099"/>
                </a:lnTo>
                <a:lnTo>
                  <a:pt x="0" y="6189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33901" y="8051027"/>
            <a:ext cx="2473448" cy="4644973"/>
          </a:xfrm>
          <a:custGeom>
            <a:avLst/>
            <a:gdLst/>
            <a:ahLst/>
            <a:cxnLst/>
            <a:rect r="r" b="b" t="t" l="l"/>
            <a:pathLst>
              <a:path h="4644973" w="2473448">
                <a:moveTo>
                  <a:pt x="0" y="0"/>
                </a:moveTo>
                <a:lnTo>
                  <a:pt x="2473448" y="0"/>
                </a:lnTo>
                <a:lnTo>
                  <a:pt x="2473448" y="4644973"/>
                </a:lnTo>
                <a:lnTo>
                  <a:pt x="0" y="46449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63141" y="8792979"/>
            <a:ext cx="7149873" cy="3503438"/>
          </a:xfrm>
          <a:custGeom>
            <a:avLst/>
            <a:gdLst/>
            <a:ahLst/>
            <a:cxnLst/>
            <a:rect r="r" b="b" t="t" l="l"/>
            <a:pathLst>
              <a:path h="3503438" w="7149873">
                <a:moveTo>
                  <a:pt x="0" y="0"/>
                </a:moveTo>
                <a:lnTo>
                  <a:pt x="7149874" y="0"/>
                </a:lnTo>
                <a:lnTo>
                  <a:pt x="7149874" y="3503438"/>
                </a:lnTo>
                <a:lnTo>
                  <a:pt x="0" y="35034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80655" y="-1259766"/>
            <a:ext cx="3932360" cy="3111480"/>
          </a:xfrm>
          <a:custGeom>
            <a:avLst/>
            <a:gdLst/>
            <a:ahLst/>
            <a:cxnLst/>
            <a:rect r="r" b="b" t="t" l="l"/>
            <a:pathLst>
              <a:path h="3111480" w="3932360">
                <a:moveTo>
                  <a:pt x="0" y="0"/>
                </a:moveTo>
                <a:lnTo>
                  <a:pt x="3932360" y="0"/>
                </a:lnTo>
                <a:lnTo>
                  <a:pt x="3932360" y="3111480"/>
                </a:lnTo>
                <a:lnTo>
                  <a:pt x="0" y="3111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375153" y="-3683623"/>
            <a:ext cx="6362373" cy="5177381"/>
          </a:xfrm>
          <a:custGeom>
            <a:avLst/>
            <a:gdLst/>
            <a:ahLst/>
            <a:cxnLst/>
            <a:rect r="r" b="b" t="t" l="l"/>
            <a:pathLst>
              <a:path h="5177381" w="6362373">
                <a:moveTo>
                  <a:pt x="0" y="0"/>
                </a:moveTo>
                <a:lnTo>
                  <a:pt x="6362373" y="0"/>
                </a:lnTo>
                <a:lnTo>
                  <a:pt x="6362373" y="5177381"/>
                </a:lnTo>
                <a:lnTo>
                  <a:pt x="0" y="51773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3965211">
            <a:off x="16146465" y="7245950"/>
            <a:ext cx="2698767" cy="4797807"/>
          </a:xfrm>
          <a:custGeom>
            <a:avLst/>
            <a:gdLst/>
            <a:ahLst/>
            <a:cxnLst/>
            <a:rect r="r" b="b" t="t" l="l"/>
            <a:pathLst>
              <a:path h="4797807" w="2698767">
                <a:moveTo>
                  <a:pt x="0" y="0"/>
                </a:moveTo>
                <a:lnTo>
                  <a:pt x="2698767" y="0"/>
                </a:lnTo>
                <a:lnTo>
                  <a:pt x="2698767" y="4797807"/>
                </a:lnTo>
                <a:lnTo>
                  <a:pt x="0" y="479780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3191101" y="6873539"/>
            <a:ext cx="1421914" cy="2384761"/>
          </a:xfrm>
          <a:custGeom>
            <a:avLst/>
            <a:gdLst/>
            <a:ahLst/>
            <a:cxnLst/>
            <a:rect r="r" b="b" t="t" l="l"/>
            <a:pathLst>
              <a:path h="2384761" w="1421914">
                <a:moveTo>
                  <a:pt x="1421914" y="0"/>
                </a:moveTo>
                <a:lnTo>
                  <a:pt x="0" y="0"/>
                </a:lnTo>
                <a:lnTo>
                  <a:pt x="0" y="2384761"/>
                </a:lnTo>
                <a:lnTo>
                  <a:pt x="1421914" y="2384761"/>
                </a:lnTo>
                <a:lnTo>
                  <a:pt x="1421914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032408" y="3505385"/>
            <a:ext cx="10223184" cy="327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6"/>
              </a:lnSpc>
            </a:pPr>
            <a:r>
              <a:rPr lang="en-US" sz="12622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tRASH </a:t>
            </a:r>
          </a:p>
          <a:p>
            <a:pPr algn="ctr">
              <a:lnSpc>
                <a:spcPts val="12496"/>
              </a:lnSpc>
            </a:pPr>
            <a:r>
              <a:rPr lang="en-US" sz="12622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taLKS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78573" y="2188348"/>
            <a:ext cx="1930853" cy="46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4"/>
              </a:lnSpc>
            </a:pPr>
            <a:r>
              <a:rPr lang="en-US" b="true" sz="2753">
                <a:solidFill>
                  <a:srgbClr val="49443E"/>
                </a:solidFill>
                <a:latin typeface="VAG Rounded Next Bold"/>
                <a:ea typeface="VAG Rounded Next Bold"/>
                <a:cs typeface="VAG Rounded Next Bold"/>
                <a:sym typeface="VAG Rounded Next Bold"/>
              </a:rPr>
              <a:t>CASE STUDY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50224" y="7587561"/>
            <a:ext cx="4187552" cy="46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4"/>
              </a:lnSpc>
            </a:pPr>
            <a:r>
              <a:rPr lang="en-US" sz="2753">
                <a:solidFill>
                  <a:srgbClr val="49443E"/>
                </a:solidFill>
                <a:latin typeface="VAG Rounded Next"/>
                <a:ea typeface="VAG Rounded Next"/>
                <a:cs typeface="VAG Rounded Next"/>
                <a:sym typeface="VAG Rounded Next"/>
              </a:rPr>
              <a:t>Why are they so important?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62316" y="984478"/>
            <a:ext cx="3025688" cy="8318043"/>
          </a:xfrm>
          <a:custGeom>
            <a:avLst/>
            <a:gdLst/>
            <a:ahLst/>
            <a:cxnLst/>
            <a:rect r="r" b="b" t="t" l="l"/>
            <a:pathLst>
              <a:path h="8318043" w="3025688">
                <a:moveTo>
                  <a:pt x="0" y="0"/>
                </a:moveTo>
                <a:lnTo>
                  <a:pt x="3025688" y="0"/>
                </a:lnTo>
                <a:lnTo>
                  <a:pt x="3025688" y="8318044"/>
                </a:lnTo>
                <a:lnTo>
                  <a:pt x="0" y="8318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35013" y="-900599"/>
            <a:ext cx="6327426" cy="6343285"/>
          </a:xfrm>
          <a:custGeom>
            <a:avLst/>
            <a:gdLst/>
            <a:ahLst/>
            <a:cxnLst/>
            <a:rect r="r" b="b" t="t" l="l"/>
            <a:pathLst>
              <a:path h="6343285" w="6327426">
                <a:moveTo>
                  <a:pt x="0" y="0"/>
                </a:moveTo>
                <a:lnTo>
                  <a:pt x="6327426" y="0"/>
                </a:lnTo>
                <a:lnTo>
                  <a:pt x="6327426" y="6343284"/>
                </a:lnTo>
                <a:lnTo>
                  <a:pt x="0" y="6343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6608" y="5586654"/>
            <a:ext cx="3274633" cy="5981065"/>
          </a:xfrm>
          <a:custGeom>
            <a:avLst/>
            <a:gdLst/>
            <a:ahLst/>
            <a:cxnLst/>
            <a:rect r="r" b="b" t="t" l="l"/>
            <a:pathLst>
              <a:path h="5981065" w="3274633">
                <a:moveTo>
                  <a:pt x="0" y="0"/>
                </a:moveTo>
                <a:lnTo>
                  <a:pt x="3274633" y="0"/>
                </a:lnTo>
                <a:lnTo>
                  <a:pt x="3274633" y="5981064"/>
                </a:lnTo>
                <a:lnTo>
                  <a:pt x="0" y="59810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60614" y="1285875"/>
            <a:ext cx="7698686" cy="117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367"/>
              </a:lnSpc>
            </a:pPr>
            <a:r>
              <a:rPr lang="en-US" sz="940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Global Crisis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69079" y="4423581"/>
            <a:ext cx="9021067" cy="483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2591" indent="-371295" lvl="1">
              <a:lnSpc>
                <a:spcPts val="4815"/>
              </a:lnSpc>
              <a:buFont typeface="Arial"/>
              <a:buChar char="•"/>
            </a:pPr>
            <a:r>
              <a:rPr lang="en-US" sz="3439">
                <a:solidFill>
                  <a:srgbClr val="49443E"/>
                </a:solidFill>
                <a:latin typeface="Gagalin"/>
                <a:ea typeface="Gagalin"/>
                <a:cs typeface="Gagalin"/>
                <a:sym typeface="Gagalin"/>
              </a:rPr>
              <a:t>Every year, over 2 billion tons of solid waste are produced globally.</a:t>
            </a:r>
          </a:p>
          <a:p>
            <a:pPr algn="l" marL="742591" indent="-371295" lvl="1">
              <a:lnSpc>
                <a:spcPts val="4815"/>
              </a:lnSpc>
              <a:buFont typeface="Arial"/>
              <a:buChar char="•"/>
            </a:pPr>
            <a:r>
              <a:rPr lang="en-US" sz="3439">
                <a:solidFill>
                  <a:srgbClr val="49443E"/>
                </a:solidFill>
                <a:latin typeface="Gagalin"/>
                <a:ea typeface="Gagalin"/>
                <a:cs typeface="Gagalin"/>
                <a:sym typeface="Gagalin"/>
              </a:rPr>
              <a:t>Less than 20% is recycled — the rest ends up in landfills and oceans.</a:t>
            </a:r>
          </a:p>
          <a:p>
            <a:pPr algn="l" marL="742591" indent="-371295" lvl="1">
              <a:lnSpc>
                <a:spcPts val="4815"/>
              </a:lnSpc>
              <a:buFont typeface="Arial"/>
              <a:buChar char="•"/>
            </a:pPr>
            <a:r>
              <a:rPr lang="en-US" sz="3439">
                <a:solidFill>
                  <a:srgbClr val="49443E"/>
                </a:solidFill>
                <a:latin typeface="Gagalin"/>
                <a:ea typeface="Gagalin"/>
                <a:cs typeface="Gagalin"/>
                <a:sym typeface="Gagalin"/>
              </a:rPr>
              <a:t>Manual segregation is slow, unsafe, and inefficient.</a:t>
            </a:r>
          </a:p>
          <a:p>
            <a:pPr algn="l" marL="742591" indent="-371295" lvl="1">
              <a:lnSpc>
                <a:spcPts val="4815"/>
              </a:lnSpc>
              <a:buFont typeface="Arial"/>
              <a:buChar char="•"/>
            </a:pPr>
            <a:r>
              <a:rPr lang="en-US" sz="3439">
                <a:solidFill>
                  <a:srgbClr val="49443E"/>
                </a:solidFill>
                <a:latin typeface="Gagalin"/>
                <a:ea typeface="Gagalin"/>
                <a:cs typeface="Gagalin"/>
                <a:sym typeface="Gagalin"/>
              </a:rPr>
              <a:t>Plastics and e-waste threaten ecosystems and human health.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65678">
            <a:off x="15809074" y="-1267165"/>
            <a:ext cx="4635212" cy="5784976"/>
          </a:xfrm>
          <a:custGeom>
            <a:avLst/>
            <a:gdLst/>
            <a:ahLst/>
            <a:cxnLst/>
            <a:rect r="r" b="b" t="t" l="l"/>
            <a:pathLst>
              <a:path h="5784976" w="4635212">
                <a:moveTo>
                  <a:pt x="0" y="0"/>
                </a:moveTo>
                <a:lnTo>
                  <a:pt x="4635212" y="0"/>
                </a:lnTo>
                <a:lnTo>
                  <a:pt x="4635212" y="5784976"/>
                </a:lnTo>
                <a:lnTo>
                  <a:pt x="0" y="5784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17077" y="900481"/>
            <a:ext cx="1746601" cy="3190139"/>
          </a:xfrm>
          <a:custGeom>
            <a:avLst/>
            <a:gdLst/>
            <a:ahLst/>
            <a:cxnLst/>
            <a:rect r="r" b="b" t="t" l="l"/>
            <a:pathLst>
              <a:path h="3190139" w="1746601">
                <a:moveTo>
                  <a:pt x="0" y="0"/>
                </a:moveTo>
                <a:lnTo>
                  <a:pt x="1746601" y="0"/>
                </a:lnTo>
                <a:lnTo>
                  <a:pt x="1746601" y="3190139"/>
                </a:lnTo>
                <a:lnTo>
                  <a:pt x="0" y="31901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7951">
            <a:off x="12571541" y="-5193111"/>
            <a:ext cx="4635212" cy="5784976"/>
          </a:xfrm>
          <a:custGeom>
            <a:avLst/>
            <a:gdLst/>
            <a:ahLst/>
            <a:cxnLst/>
            <a:rect r="r" b="b" t="t" l="l"/>
            <a:pathLst>
              <a:path h="5784976" w="4635212">
                <a:moveTo>
                  <a:pt x="0" y="0"/>
                </a:moveTo>
                <a:lnTo>
                  <a:pt x="4635212" y="0"/>
                </a:lnTo>
                <a:lnTo>
                  <a:pt x="4635212" y="5784976"/>
                </a:lnTo>
                <a:lnTo>
                  <a:pt x="0" y="5784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23208" y="7905780"/>
            <a:ext cx="5520489" cy="2705040"/>
          </a:xfrm>
          <a:custGeom>
            <a:avLst/>
            <a:gdLst/>
            <a:ahLst/>
            <a:cxnLst/>
            <a:rect r="r" b="b" t="t" l="l"/>
            <a:pathLst>
              <a:path h="2705040" w="5520489">
                <a:moveTo>
                  <a:pt x="0" y="0"/>
                </a:moveTo>
                <a:lnTo>
                  <a:pt x="5520490" y="0"/>
                </a:lnTo>
                <a:lnTo>
                  <a:pt x="5520490" y="2705040"/>
                </a:lnTo>
                <a:lnTo>
                  <a:pt x="0" y="27050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19004" y="3513386"/>
            <a:ext cx="3148486" cy="2353493"/>
          </a:xfrm>
          <a:custGeom>
            <a:avLst/>
            <a:gdLst/>
            <a:ahLst/>
            <a:cxnLst/>
            <a:rect r="r" b="b" t="t" l="l"/>
            <a:pathLst>
              <a:path h="2353493" w="3148486">
                <a:moveTo>
                  <a:pt x="0" y="0"/>
                </a:moveTo>
                <a:lnTo>
                  <a:pt x="3148486" y="0"/>
                </a:lnTo>
                <a:lnTo>
                  <a:pt x="3148486" y="2353493"/>
                </a:lnTo>
                <a:lnTo>
                  <a:pt x="0" y="23534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5775" y="4778191"/>
            <a:ext cx="15576754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9443E"/>
                </a:solidFill>
                <a:latin typeface="Gagalin"/>
                <a:ea typeface="Gagalin"/>
                <a:cs typeface="Gagalin"/>
                <a:sym typeface="Gagalin"/>
              </a:rPr>
              <a:t>Waste arrives mixed — plastic, metal, glass, organic.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9443E"/>
                </a:solidFill>
                <a:latin typeface="Gagalin"/>
                <a:ea typeface="Gagalin"/>
                <a:cs typeface="Gagalin"/>
                <a:sym typeface="Gagalin"/>
              </a:rPr>
              <a:t>Sorting manually exposes workers to hazardous materials.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9443E"/>
                </a:solidFill>
                <a:latin typeface="Gagalin"/>
                <a:ea typeface="Gagalin"/>
                <a:cs typeface="Gagalin"/>
                <a:sym typeface="Gagalin"/>
              </a:rPr>
              <a:t>Recycling plants face bottlenecks due to low sorting accuracy.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9443E"/>
                </a:solidFill>
                <a:latin typeface="Gagalin"/>
                <a:ea typeface="Gagalin"/>
                <a:cs typeface="Gagalin"/>
                <a:sym typeface="Gagalin"/>
              </a:rPr>
              <a:t>Lack of automation leads to delays, contamination, and higher costs.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285875"/>
            <a:ext cx="8498401" cy="222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7"/>
              </a:lnSpc>
            </a:pPr>
            <a:r>
              <a:rPr lang="en-US" sz="940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Why Recycling Fails Today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11738" y="8226428"/>
            <a:ext cx="2886703" cy="3318049"/>
          </a:xfrm>
          <a:custGeom>
            <a:avLst/>
            <a:gdLst/>
            <a:ahLst/>
            <a:cxnLst/>
            <a:rect r="r" b="b" t="t" l="l"/>
            <a:pathLst>
              <a:path h="3318049" w="2886703">
                <a:moveTo>
                  <a:pt x="0" y="0"/>
                </a:moveTo>
                <a:lnTo>
                  <a:pt x="2886703" y="0"/>
                </a:lnTo>
                <a:lnTo>
                  <a:pt x="2886703" y="3318049"/>
                </a:lnTo>
                <a:lnTo>
                  <a:pt x="0" y="33180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06211" y="5143500"/>
            <a:ext cx="6165856" cy="6165856"/>
          </a:xfrm>
          <a:custGeom>
            <a:avLst/>
            <a:gdLst/>
            <a:ahLst/>
            <a:cxnLst/>
            <a:rect r="r" b="b" t="t" l="l"/>
            <a:pathLst>
              <a:path h="6165856" w="6165856">
                <a:moveTo>
                  <a:pt x="0" y="0"/>
                </a:moveTo>
                <a:lnTo>
                  <a:pt x="6165855" y="0"/>
                </a:lnTo>
                <a:lnTo>
                  <a:pt x="6165855" y="6165856"/>
                </a:lnTo>
                <a:lnTo>
                  <a:pt x="0" y="6165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533055" y="-323820"/>
            <a:ext cx="5520489" cy="2705040"/>
          </a:xfrm>
          <a:custGeom>
            <a:avLst/>
            <a:gdLst/>
            <a:ahLst/>
            <a:cxnLst/>
            <a:rect r="r" b="b" t="t" l="l"/>
            <a:pathLst>
              <a:path h="2705040" w="5520489">
                <a:moveTo>
                  <a:pt x="0" y="0"/>
                </a:moveTo>
                <a:lnTo>
                  <a:pt x="5520490" y="0"/>
                </a:lnTo>
                <a:lnTo>
                  <a:pt x="5520490" y="2705040"/>
                </a:lnTo>
                <a:lnTo>
                  <a:pt x="0" y="27050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89138" y="2454599"/>
            <a:ext cx="3595220" cy="2615522"/>
          </a:xfrm>
          <a:custGeom>
            <a:avLst/>
            <a:gdLst/>
            <a:ahLst/>
            <a:cxnLst/>
            <a:rect r="r" b="b" t="t" l="l"/>
            <a:pathLst>
              <a:path h="2615522" w="3595220">
                <a:moveTo>
                  <a:pt x="0" y="0"/>
                </a:moveTo>
                <a:lnTo>
                  <a:pt x="3595220" y="0"/>
                </a:lnTo>
                <a:lnTo>
                  <a:pt x="3595220" y="2615522"/>
                </a:lnTo>
                <a:lnTo>
                  <a:pt x="0" y="261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2697" y="4162549"/>
            <a:ext cx="14401671" cy="490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9443E"/>
                </a:solidFill>
                <a:latin typeface="Gagalin"/>
                <a:ea typeface="Gagalin"/>
                <a:cs typeface="Gagalin"/>
                <a:sym typeface="Gagalin"/>
              </a:rPr>
              <a:t>Artificial Intelligence, particularly Computer Vision, can mimic human sight.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9443E"/>
                </a:solidFill>
                <a:latin typeface="Gagalin"/>
                <a:ea typeface="Gagalin"/>
                <a:cs typeface="Gagalin"/>
                <a:sym typeface="Gagalin"/>
              </a:rPr>
              <a:t>CNNs (Convolutional Neural Networks) learn to identify waste visually.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49443E"/>
                </a:solidFill>
                <a:latin typeface="Gagalin"/>
                <a:ea typeface="Gagalin"/>
                <a:cs typeface="Gagalin"/>
                <a:sym typeface="Gagalin"/>
              </a:rPr>
              <a:t>When integrated with IoT &amp; robotics, AI can power automated recycling plants.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285875"/>
            <a:ext cx="11136101" cy="222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7"/>
              </a:lnSpc>
            </a:pPr>
            <a:r>
              <a:rPr lang="en-US" sz="940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Enter AI — Vision for the Planet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358100">
            <a:off x="-927307" y="5784703"/>
            <a:ext cx="4362389" cy="5444480"/>
          </a:xfrm>
          <a:custGeom>
            <a:avLst/>
            <a:gdLst/>
            <a:ahLst/>
            <a:cxnLst/>
            <a:rect r="r" b="b" t="t" l="l"/>
            <a:pathLst>
              <a:path h="5444480" w="4362389">
                <a:moveTo>
                  <a:pt x="0" y="0"/>
                </a:moveTo>
                <a:lnTo>
                  <a:pt x="4362390" y="0"/>
                </a:lnTo>
                <a:lnTo>
                  <a:pt x="4362390" y="5444480"/>
                </a:lnTo>
                <a:lnTo>
                  <a:pt x="0" y="54444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35346" y="-3576322"/>
            <a:ext cx="7632954" cy="8229600"/>
          </a:xfrm>
          <a:custGeom>
            <a:avLst/>
            <a:gdLst/>
            <a:ahLst/>
            <a:cxnLst/>
            <a:rect r="r" b="b" t="t" l="l"/>
            <a:pathLst>
              <a:path h="8229600" w="7632954">
                <a:moveTo>
                  <a:pt x="0" y="0"/>
                </a:moveTo>
                <a:lnTo>
                  <a:pt x="7632954" y="0"/>
                </a:lnTo>
                <a:lnTo>
                  <a:pt x="763295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33414">
            <a:off x="557307" y="20820"/>
            <a:ext cx="1526170" cy="2787526"/>
          </a:xfrm>
          <a:custGeom>
            <a:avLst/>
            <a:gdLst/>
            <a:ahLst/>
            <a:cxnLst/>
            <a:rect r="r" b="b" t="t" l="l"/>
            <a:pathLst>
              <a:path h="2787526" w="1526170">
                <a:moveTo>
                  <a:pt x="0" y="0"/>
                </a:moveTo>
                <a:lnTo>
                  <a:pt x="1526171" y="0"/>
                </a:lnTo>
                <a:lnTo>
                  <a:pt x="1526171" y="2787526"/>
                </a:lnTo>
                <a:lnTo>
                  <a:pt x="0" y="2787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14757" y="7311643"/>
            <a:ext cx="3379973" cy="5668719"/>
          </a:xfrm>
          <a:custGeom>
            <a:avLst/>
            <a:gdLst/>
            <a:ahLst/>
            <a:cxnLst/>
            <a:rect r="r" b="b" t="t" l="l"/>
            <a:pathLst>
              <a:path h="5668719" w="3379973">
                <a:moveTo>
                  <a:pt x="0" y="0"/>
                </a:moveTo>
                <a:lnTo>
                  <a:pt x="3379973" y="0"/>
                </a:lnTo>
                <a:lnTo>
                  <a:pt x="3379973" y="5668719"/>
                </a:lnTo>
                <a:lnTo>
                  <a:pt x="0" y="56687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94657" y="1608493"/>
            <a:ext cx="11799719" cy="1363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666"/>
              </a:lnSpc>
            </a:pPr>
            <a:r>
              <a:rPr lang="en-US" sz="1086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Problem </a:t>
            </a:r>
            <a:r>
              <a:rPr lang="en-US" sz="10861">
                <a:solidFill>
                  <a:srgbClr val="AD6B1E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0490" y="4234736"/>
            <a:ext cx="15443886" cy="307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163"/>
              </a:lnSpc>
            </a:pPr>
            <a:r>
              <a:rPr lang="en-US" sz="4402">
                <a:solidFill>
                  <a:srgbClr val="49443E"/>
                </a:solidFill>
                <a:latin typeface="Gagalin"/>
                <a:ea typeface="Gagalin"/>
                <a:cs typeface="Gagalin"/>
                <a:sym typeface="Gagalin"/>
              </a:rPr>
              <a:t>Develop a CNN-based system capable of classifying different types of waste from images captured by cameras installed on conveyor belts in recycling plants and aligned them with SDG goals 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61220" y="2729851"/>
            <a:ext cx="13365561" cy="5558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80"/>
              </a:lnSpc>
            </a:pPr>
            <a:r>
              <a:rPr lang="en-US" sz="12000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♻️ RecycLens ♻️  Smart Waste Classifier</a:t>
            </a:r>
          </a:p>
          <a:p>
            <a:pPr algn="ctr">
              <a:lnSpc>
                <a:spcPts val="1068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346390" y="7235575"/>
            <a:ext cx="3595220" cy="2615522"/>
          </a:xfrm>
          <a:custGeom>
            <a:avLst/>
            <a:gdLst/>
            <a:ahLst/>
            <a:cxnLst/>
            <a:rect r="r" b="b" t="t" l="l"/>
            <a:pathLst>
              <a:path h="2615522" w="3595220">
                <a:moveTo>
                  <a:pt x="0" y="0"/>
                </a:moveTo>
                <a:lnTo>
                  <a:pt x="3595220" y="0"/>
                </a:lnTo>
                <a:lnTo>
                  <a:pt x="3595220" y="2615522"/>
                </a:lnTo>
                <a:lnTo>
                  <a:pt x="0" y="26155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65678">
            <a:off x="15809074" y="-1267165"/>
            <a:ext cx="4635212" cy="5784976"/>
          </a:xfrm>
          <a:custGeom>
            <a:avLst/>
            <a:gdLst/>
            <a:ahLst/>
            <a:cxnLst/>
            <a:rect r="r" b="b" t="t" l="l"/>
            <a:pathLst>
              <a:path h="5784976" w="4635212">
                <a:moveTo>
                  <a:pt x="0" y="0"/>
                </a:moveTo>
                <a:lnTo>
                  <a:pt x="4635212" y="0"/>
                </a:lnTo>
                <a:lnTo>
                  <a:pt x="4635212" y="5784976"/>
                </a:lnTo>
                <a:lnTo>
                  <a:pt x="0" y="5784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30918" y="0"/>
            <a:ext cx="1426164" cy="2604866"/>
          </a:xfrm>
          <a:custGeom>
            <a:avLst/>
            <a:gdLst/>
            <a:ahLst/>
            <a:cxnLst/>
            <a:rect r="r" b="b" t="t" l="l"/>
            <a:pathLst>
              <a:path h="2604866" w="1426164">
                <a:moveTo>
                  <a:pt x="0" y="0"/>
                </a:moveTo>
                <a:lnTo>
                  <a:pt x="1426164" y="0"/>
                </a:lnTo>
                <a:lnTo>
                  <a:pt x="1426164" y="2604866"/>
                </a:lnTo>
                <a:lnTo>
                  <a:pt x="0" y="260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7951">
            <a:off x="12571541" y="-5193111"/>
            <a:ext cx="4635212" cy="5784976"/>
          </a:xfrm>
          <a:custGeom>
            <a:avLst/>
            <a:gdLst/>
            <a:ahLst/>
            <a:cxnLst/>
            <a:rect r="r" b="b" t="t" l="l"/>
            <a:pathLst>
              <a:path h="5784976" w="4635212">
                <a:moveTo>
                  <a:pt x="0" y="0"/>
                </a:moveTo>
                <a:lnTo>
                  <a:pt x="4635212" y="0"/>
                </a:lnTo>
                <a:lnTo>
                  <a:pt x="4635212" y="5784976"/>
                </a:lnTo>
                <a:lnTo>
                  <a:pt x="0" y="5784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23208" y="7905780"/>
            <a:ext cx="5520489" cy="2705040"/>
          </a:xfrm>
          <a:custGeom>
            <a:avLst/>
            <a:gdLst/>
            <a:ahLst/>
            <a:cxnLst/>
            <a:rect r="r" b="b" t="t" l="l"/>
            <a:pathLst>
              <a:path h="2705040" w="5520489">
                <a:moveTo>
                  <a:pt x="0" y="0"/>
                </a:moveTo>
                <a:lnTo>
                  <a:pt x="5520490" y="0"/>
                </a:lnTo>
                <a:lnTo>
                  <a:pt x="5520490" y="2705040"/>
                </a:lnTo>
                <a:lnTo>
                  <a:pt x="0" y="27050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43208" y="5067300"/>
            <a:ext cx="7845946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Source: Stanford TrashNet Dataset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Total Images: 2,527 labeled samples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Categories: Paper, Glass, Plastic, Metal, Cardboard, Trash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Image Conditions: Varied backgrounds, lighting, and orientations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285875"/>
            <a:ext cx="7529473" cy="117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7"/>
              </a:lnSpc>
            </a:pPr>
            <a:r>
              <a:rPr lang="en-US" sz="940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Dataset - Info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30273" y="4742033"/>
            <a:ext cx="6938259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49443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Preprocessing Steps: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Resized to 128×128 pixels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Normalized pixel values (0–1 scale)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Data augmentation: rotation, zoom, flip, brightness shift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3208" y="4040661"/>
            <a:ext cx="7529473" cy="77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620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TrashNet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65678">
            <a:off x="15809074" y="-1267165"/>
            <a:ext cx="4635212" cy="5784976"/>
          </a:xfrm>
          <a:custGeom>
            <a:avLst/>
            <a:gdLst/>
            <a:ahLst/>
            <a:cxnLst/>
            <a:rect r="r" b="b" t="t" l="l"/>
            <a:pathLst>
              <a:path h="5784976" w="4635212">
                <a:moveTo>
                  <a:pt x="0" y="0"/>
                </a:moveTo>
                <a:lnTo>
                  <a:pt x="4635212" y="0"/>
                </a:lnTo>
                <a:lnTo>
                  <a:pt x="4635212" y="5784976"/>
                </a:lnTo>
                <a:lnTo>
                  <a:pt x="0" y="5784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46934" y="322890"/>
            <a:ext cx="1426164" cy="2604866"/>
          </a:xfrm>
          <a:custGeom>
            <a:avLst/>
            <a:gdLst/>
            <a:ahLst/>
            <a:cxnLst/>
            <a:rect r="r" b="b" t="t" l="l"/>
            <a:pathLst>
              <a:path h="2604866" w="1426164">
                <a:moveTo>
                  <a:pt x="0" y="0"/>
                </a:moveTo>
                <a:lnTo>
                  <a:pt x="1426164" y="0"/>
                </a:lnTo>
                <a:lnTo>
                  <a:pt x="1426164" y="2604866"/>
                </a:lnTo>
                <a:lnTo>
                  <a:pt x="0" y="260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57951">
            <a:off x="12571541" y="-5193111"/>
            <a:ext cx="4635212" cy="5784976"/>
          </a:xfrm>
          <a:custGeom>
            <a:avLst/>
            <a:gdLst/>
            <a:ahLst/>
            <a:cxnLst/>
            <a:rect r="r" b="b" t="t" l="l"/>
            <a:pathLst>
              <a:path h="5784976" w="4635212">
                <a:moveTo>
                  <a:pt x="0" y="0"/>
                </a:moveTo>
                <a:lnTo>
                  <a:pt x="4635212" y="0"/>
                </a:lnTo>
                <a:lnTo>
                  <a:pt x="4635212" y="5784976"/>
                </a:lnTo>
                <a:lnTo>
                  <a:pt x="0" y="5784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23208" y="7905780"/>
            <a:ext cx="5520489" cy="2705040"/>
          </a:xfrm>
          <a:custGeom>
            <a:avLst/>
            <a:gdLst/>
            <a:ahLst/>
            <a:cxnLst/>
            <a:rect r="r" b="b" t="t" l="l"/>
            <a:pathLst>
              <a:path h="2705040" w="5520489">
                <a:moveTo>
                  <a:pt x="0" y="0"/>
                </a:moveTo>
                <a:lnTo>
                  <a:pt x="5520490" y="0"/>
                </a:lnTo>
                <a:lnTo>
                  <a:pt x="5520490" y="2705040"/>
                </a:lnTo>
                <a:lnTo>
                  <a:pt x="0" y="27050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43208" y="5067300"/>
            <a:ext cx="7845946" cy="373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49443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Layers: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3</a:t>
            </a: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 × Conv2D layers (ReLU + MaxPooling)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Fl</a:t>
            </a: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atten layer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2 × Dense layers (with Dropout for regularization)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Output: Softmax (6 categories)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285875"/>
            <a:ext cx="10827951" cy="117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7"/>
              </a:lnSpc>
            </a:pPr>
            <a:r>
              <a:rPr lang="en-US" sz="940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Model 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21041" y="5252347"/>
            <a:ext cx="6938259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49443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Training Parameters: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Optim</a:t>
            </a: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izer: Adam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Loss: Categorical Cross-Entropy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Epochs: 20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Batch Size: 32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43208" y="3089681"/>
            <a:ext cx="14002737" cy="777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620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 Custom Convolutional Neural Network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465678">
            <a:off x="15809074" y="-1267165"/>
            <a:ext cx="4635212" cy="5784976"/>
          </a:xfrm>
          <a:custGeom>
            <a:avLst/>
            <a:gdLst/>
            <a:ahLst/>
            <a:cxnLst/>
            <a:rect r="r" b="b" t="t" l="l"/>
            <a:pathLst>
              <a:path h="5784976" w="4635212">
                <a:moveTo>
                  <a:pt x="0" y="0"/>
                </a:moveTo>
                <a:lnTo>
                  <a:pt x="4635212" y="0"/>
                </a:lnTo>
                <a:lnTo>
                  <a:pt x="4635212" y="5784976"/>
                </a:lnTo>
                <a:lnTo>
                  <a:pt x="0" y="5784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0083" y="2456111"/>
            <a:ext cx="13450129" cy="6837648"/>
          </a:xfrm>
          <a:custGeom>
            <a:avLst/>
            <a:gdLst/>
            <a:ahLst/>
            <a:cxnLst/>
            <a:rect r="r" b="b" t="t" l="l"/>
            <a:pathLst>
              <a:path h="6837648" w="13450129">
                <a:moveTo>
                  <a:pt x="0" y="0"/>
                </a:moveTo>
                <a:lnTo>
                  <a:pt x="13450129" y="0"/>
                </a:lnTo>
                <a:lnTo>
                  <a:pt x="13450129" y="6837648"/>
                </a:lnTo>
                <a:lnTo>
                  <a:pt x="0" y="6837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19" r="0" b="-261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46934" y="322890"/>
            <a:ext cx="1426164" cy="2604866"/>
          </a:xfrm>
          <a:custGeom>
            <a:avLst/>
            <a:gdLst/>
            <a:ahLst/>
            <a:cxnLst/>
            <a:rect r="r" b="b" t="t" l="l"/>
            <a:pathLst>
              <a:path h="2604866" w="1426164">
                <a:moveTo>
                  <a:pt x="0" y="0"/>
                </a:moveTo>
                <a:lnTo>
                  <a:pt x="1426164" y="0"/>
                </a:lnTo>
                <a:lnTo>
                  <a:pt x="1426164" y="2604866"/>
                </a:lnTo>
                <a:lnTo>
                  <a:pt x="0" y="2604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57951">
            <a:off x="12571541" y="-5193111"/>
            <a:ext cx="4635212" cy="5784976"/>
          </a:xfrm>
          <a:custGeom>
            <a:avLst/>
            <a:gdLst/>
            <a:ahLst/>
            <a:cxnLst/>
            <a:rect r="r" b="b" t="t" l="l"/>
            <a:pathLst>
              <a:path h="5784976" w="4635212">
                <a:moveTo>
                  <a:pt x="0" y="0"/>
                </a:moveTo>
                <a:lnTo>
                  <a:pt x="4635212" y="0"/>
                </a:lnTo>
                <a:lnTo>
                  <a:pt x="4635212" y="5784976"/>
                </a:lnTo>
                <a:lnTo>
                  <a:pt x="0" y="5784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23208" y="7905780"/>
            <a:ext cx="5520489" cy="2705040"/>
          </a:xfrm>
          <a:custGeom>
            <a:avLst/>
            <a:gdLst/>
            <a:ahLst/>
            <a:cxnLst/>
            <a:rect r="r" b="b" t="t" l="l"/>
            <a:pathLst>
              <a:path h="2705040" w="5520489">
                <a:moveTo>
                  <a:pt x="0" y="0"/>
                </a:moveTo>
                <a:lnTo>
                  <a:pt x="5520490" y="0"/>
                </a:lnTo>
                <a:lnTo>
                  <a:pt x="5520490" y="2705040"/>
                </a:lnTo>
                <a:lnTo>
                  <a:pt x="0" y="27050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85875"/>
            <a:ext cx="10827951" cy="117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7"/>
              </a:lnSpc>
            </a:pPr>
            <a:r>
              <a:rPr lang="en-US" sz="940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Model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45318" y="2060572"/>
            <a:ext cx="6165856" cy="6165856"/>
          </a:xfrm>
          <a:custGeom>
            <a:avLst/>
            <a:gdLst/>
            <a:ahLst/>
            <a:cxnLst/>
            <a:rect r="r" b="b" t="t" l="l"/>
            <a:pathLst>
              <a:path h="6165856" w="6165856">
                <a:moveTo>
                  <a:pt x="0" y="0"/>
                </a:moveTo>
                <a:lnTo>
                  <a:pt x="6165856" y="0"/>
                </a:lnTo>
                <a:lnTo>
                  <a:pt x="6165856" y="6165856"/>
                </a:lnTo>
                <a:lnTo>
                  <a:pt x="0" y="6165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84796" y="6504652"/>
            <a:ext cx="4477968" cy="4608521"/>
          </a:xfrm>
          <a:custGeom>
            <a:avLst/>
            <a:gdLst/>
            <a:ahLst/>
            <a:cxnLst/>
            <a:rect r="r" b="b" t="t" l="l"/>
            <a:pathLst>
              <a:path h="4608521" w="4477968">
                <a:moveTo>
                  <a:pt x="0" y="0"/>
                </a:moveTo>
                <a:lnTo>
                  <a:pt x="4477968" y="0"/>
                </a:lnTo>
                <a:lnTo>
                  <a:pt x="4477968" y="4608521"/>
                </a:lnTo>
                <a:lnTo>
                  <a:pt x="0" y="4608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29355" y="-839899"/>
            <a:ext cx="4999595" cy="3737197"/>
          </a:xfrm>
          <a:custGeom>
            <a:avLst/>
            <a:gdLst/>
            <a:ahLst/>
            <a:cxnLst/>
            <a:rect r="r" b="b" t="t" l="l"/>
            <a:pathLst>
              <a:path h="3737197" w="4999595">
                <a:moveTo>
                  <a:pt x="0" y="0"/>
                </a:moveTo>
                <a:lnTo>
                  <a:pt x="4999596" y="0"/>
                </a:lnTo>
                <a:lnTo>
                  <a:pt x="4999596" y="3737198"/>
                </a:lnTo>
                <a:lnTo>
                  <a:pt x="0" y="37371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8766" y="-4610247"/>
            <a:ext cx="2309480" cy="6349086"/>
          </a:xfrm>
          <a:custGeom>
            <a:avLst/>
            <a:gdLst/>
            <a:ahLst/>
            <a:cxnLst/>
            <a:rect r="r" b="b" t="t" l="l"/>
            <a:pathLst>
              <a:path h="6349086" w="2309480">
                <a:moveTo>
                  <a:pt x="0" y="0"/>
                </a:moveTo>
                <a:lnTo>
                  <a:pt x="2309480" y="0"/>
                </a:lnTo>
                <a:lnTo>
                  <a:pt x="2309480" y="6349086"/>
                </a:lnTo>
                <a:lnTo>
                  <a:pt x="0" y="6349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41358" y="4324458"/>
            <a:ext cx="6976283" cy="5962542"/>
          </a:xfrm>
          <a:custGeom>
            <a:avLst/>
            <a:gdLst/>
            <a:ahLst/>
            <a:cxnLst/>
            <a:rect r="r" b="b" t="t" l="l"/>
            <a:pathLst>
              <a:path h="5962542" w="6976283">
                <a:moveTo>
                  <a:pt x="0" y="0"/>
                </a:moveTo>
                <a:lnTo>
                  <a:pt x="6976282" y="0"/>
                </a:lnTo>
                <a:lnTo>
                  <a:pt x="6976282" y="5962542"/>
                </a:lnTo>
                <a:lnTo>
                  <a:pt x="0" y="59625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506050"/>
            <a:ext cx="8908495" cy="49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9"/>
              </a:lnSpc>
            </a:pPr>
            <a:r>
              <a:rPr lang="en-US" sz="2885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Test Accuracy: 61.4% (on unseen real-world samples)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285875"/>
            <a:ext cx="7516235" cy="117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7"/>
              </a:lnSpc>
            </a:pPr>
            <a:r>
              <a:rPr lang="en-US" sz="940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Results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029058"/>
            <a:ext cx="11882471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9603B"/>
                </a:solidFill>
                <a:latin typeface="Georgia Pro"/>
                <a:ea typeface="Georgia Pro"/>
                <a:cs typeface="Georgia Pro"/>
                <a:sym typeface="Georgia Pro"/>
              </a:rPr>
              <a:t>TrainLoss: 1.0878                  TrainAcc: 58.02%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9603B"/>
                </a:solidFill>
                <a:latin typeface="Georgia Pro"/>
                <a:ea typeface="Georgia Pro"/>
                <a:cs typeface="Georgia Pro"/>
                <a:sym typeface="Georgia Pro"/>
              </a:rPr>
              <a:t>ValLoss: 0.8747                       ValAcc: 67.57%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45318" y="2060572"/>
            <a:ext cx="6165856" cy="6165856"/>
          </a:xfrm>
          <a:custGeom>
            <a:avLst/>
            <a:gdLst/>
            <a:ahLst/>
            <a:cxnLst/>
            <a:rect r="r" b="b" t="t" l="l"/>
            <a:pathLst>
              <a:path h="6165856" w="6165856">
                <a:moveTo>
                  <a:pt x="0" y="0"/>
                </a:moveTo>
                <a:lnTo>
                  <a:pt x="6165856" y="0"/>
                </a:lnTo>
                <a:lnTo>
                  <a:pt x="6165856" y="6165856"/>
                </a:lnTo>
                <a:lnTo>
                  <a:pt x="0" y="6165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84796" y="6504652"/>
            <a:ext cx="4477968" cy="4608521"/>
          </a:xfrm>
          <a:custGeom>
            <a:avLst/>
            <a:gdLst/>
            <a:ahLst/>
            <a:cxnLst/>
            <a:rect r="r" b="b" t="t" l="l"/>
            <a:pathLst>
              <a:path h="4608521" w="4477968">
                <a:moveTo>
                  <a:pt x="0" y="0"/>
                </a:moveTo>
                <a:lnTo>
                  <a:pt x="4477968" y="0"/>
                </a:lnTo>
                <a:lnTo>
                  <a:pt x="4477968" y="4608521"/>
                </a:lnTo>
                <a:lnTo>
                  <a:pt x="0" y="4608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29355" y="-839899"/>
            <a:ext cx="4999595" cy="3737197"/>
          </a:xfrm>
          <a:custGeom>
            <a:avLst/>
            <a:gdLst/>
            <a:ahLst/>
            <a:cxnLst/>
            <a:rect r="r" b="b" t="t" l="l"/>
            <a:pathLst>
              <a:path h="3737197" w="4999595">
                <a:moveTo>
                  <a:pt x="0" y="0"/>
                </a:moveTo>
                <a:lnTo>
                  <a:pt x="4999596" y="0"/>
                </a:lnTo>
                <a:lnTo>
                  <a:pt x="4999596" y="3737198"/>
                </a:lnTo>
                <a:lnTo>
                  <a:pt x="0" y="37371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8766" y="-4610247"/>
            <a:ext cx="2309480" cy="6349086"/>
          </a:xfrm>
          <a:custGeom>
            <a:avLst/>
            <a:gdLst/>
            <a:ahLst/>
            <a:cxnLst/>
            <a:rect r="r" b="b" t="t" l="l"/>
            <a:pathLst>
              <a:path h="6349086" w="2309480">
                <a:moveTo>
                  <a:pt x="0" y="0"/>
                </a:moveTo>
                <a:lnTo>
                  <a:pt x="2309480" y="0"/>
                </a:lnTo>
                <a:lnTo>
                  <a:pt x="2309480" y="6349086"/>
                </a:lnTo>
                <a:lnTo>
                  <a:pt x="0" y="6349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64892" y="3908560"/>
            <a:ext cx="5192183" cy="5192183"/>
          </a:xfrm>
          <a:custGeom>
            <a:avLst/>
            <a:gdLst/>
            <a:ahLst/>
            <a:cxnLst/>
            <a:rect r="r" b="b" t="t" l="l"/>
            <a:pathLst>
              <a:path h="5192183" w="5192183">
                <a:moveTo>
                  <a:pt x="0" y="0"/>
                </a:moveTo>
                <a:lnTo>
                  <a:pt x="5192183" y="0"/>
                </a:lnTo>
                <a:lnTo>
                  <a:pt x="5192183" y="5192183"/>
                </a:lnTo>
                <a:lnTo>
                  <a:pt x="0" y="51921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85875"/>
            <a:ext cx="10990066" cy="222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7"/>
              </a:lnSpc>
            </a:pPr>
            <a:r>
              <a:rPr lang="en-US" sz="940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Live Demonstration — RecycLens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64892" y="8797607"/>
            <a:ext cx="5684163" cy="807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9"/>
              </a:lnSpc>
            </a:pPr>
            <a:r>
              <a:rPr lang="en-US" sz="4599" u="sng">
                <a:solidFill>
                  <a:srgbClr val="39603B"/>
                </a:solidFill>
                <a:latin typeface="Arimo"/>
                <a:ea typeface="Arimo"/>
                <a:cs typeface="Arimo"/>
                <a:sym typeface="Arimo"/>
                <a:hlinkClick r:id="rId8" tooltip="http://10.2.97.48:8501"/>
              </a:rPr>
              <a:t>http://10.2.97.48:8501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45318" y="2060572"/>
            <a:ext cx="6165856" cy="6165856"/>
          </a:xfrm>
          <a:custGeom>
            <a:avLst/>
            <a:gdLst/>
            <a:ahLst/>
            <a:cxnLst/>
            <a:rect r="r" b="b" t="t" l="l"/>
            <a:pathLst>
              <a:path h="6165856" w="6165856">
                <a:moveTo>
                  <a:pt x="0" y="0"/>
                </a:moveTo>
                <a:lnTo>
                  <a:pt x="6165856" y="0"/>
                </a:lnTo>
                <a:lnTo>
                  <a:pt x="6165856" y="6165856"/>
                </a:lnTo>
                <a:lnTo>
                  <a:pt x="0" y="6165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84796" y="6504652"/>
            <a:ext cx="4477968" cy="4608521"/>
          </a:xfrm>
          <a:custGeom>
            <a:avLst/>
            <a:gdLst/>
            <a:ahLst/>
            <a:cxnLst/>
            <a:rect r="r" b="b" t="t" l="l"/>
            <a:pathLst>
              <a:path h="4608521" w="4477968">
                <a:moveTo>
                  <a:pt x="0" y="0"/>
                </a:moveTo>
                <a:lnTo>
                  <a:pt x="4477968" y="0"/>
                </a:lnTo>
                <a:lnTo>
                  <a:pt x="4477968" y="4608521"/>
                </a:lnTo>
                <a:lnTo>
                  <a:pt x="0" y="4608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629355" y="-839899"/>
            <a:ext cx="4999595" cy="3737197"/>
          </a:xfrm>
          <a:custGeom>
            <a:avLst/>
            <a:gdLst/>
            <a:ahLst/>
            <a:cxnLst/>
            <a:rect r="r" b="b" t="t" l="l"/>
            <a:pathLst>
              <a:path h="3737197" w="4999595">
                <a:moveTo>
                  <a:pt x="0" y="0"/>
                </a:moveTo>
                <a:lnTo>
                  <a:pt x="4999596" y="0"/>
                </a:lnTo>
                <a:lnTo>
                  <a:pt x="4999596" y="3737198"/>
                </a:lnTo>
                <a:lnTo>
                  <a:pt x="0" y="37371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18766" y="-4610247"/>
            <a:ext cx="2309480" cy="6349086"/>
          </a:xfrm>
          <a:custGeom>
            <a:avLst/>
            <a:gdLst/>
            <a:ahLst/>
            <a:cxnLst/>
            <a:rect r="r" b="b" t="t" l="l"/>
            <a:pathLst>
              <a:path h="6349086" w="2309480">
                <a:moveTo>
                  <a:pt x="0" y="0"/>
                </a:moveTo>
                <a:lnTo>
                  <a:pt x="2309480" y="0"/>
                </a:lnTo>
                <a:lnTo>
                  <a:pt x="2309480" y="6349086"/>
                </a:lnTo>
                <a:lnTo>
                  <a:pt x="0" y="6349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4392" y="8543803"/>
            <a:ext cx="8908495" cy="473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785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Camera → CNN → Decision → Sorting Mechanism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4392" y="1075404"/>
            <a:ext cx="11391947" cy="2227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67"/>
              </a:lnSpc>
            </a:pPr>
            <a:r>
              <a:rPr lang="en-US" sz="940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System Design — Smart Waste Sorting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4392" y="4543980"/>
            <a:ext cx="9714992" cy="317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52"/>
              </a:lnSpc>
            </a:pPr>
            <a:r>
              <a:rPr lang="en-US" sz="3037" b="true">
                <a:solidFill>
                  <a:srgbClr val="49443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Proposed Integration:</a:t>
            </a:r>
          </a:p>
          <a:p>
            <a:pPr algn="l" marL="655846" indent="-327923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Camera: Captures image on conveyor</a:t>
            </a:r>
          </a:p>
          <a:p>
            <a:pPr algn="l" marL="655846" indent="-327923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CNN Model: Classifies waste in real-time</a:t>
            </a:r>
          </a:p>
          <a:p>
            <a:pPr algn="l" marL="655846" indent="-327923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IoT Sensor: Detects object weight or material density</a:t>
            </a:r>
          </a:p>
          <a:p>
            <a:pPr algn="l" marL="655846" indent="-327923" lvl="1">
              <a:lnSpc>
                <a:spcPts val="4252"/>
              </a:lnSpc>
              <a:buFont typeface="Arial"/>
              <a:buChar char="•"/>
            </a:pPr>
            <a:r>
              <a:rPr lang="en-US" sz="3037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Robotic Arm / Actuator: Directs item to correct bin</a:t>
            </a:r>
          </a:p>
          <a:p>
            <a:pPr algn="l">
              <a:lnSpc>
                <a:spcPts val="4252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76161" y="-1178018"/>
            <a:ext cx="5746004" cy="4180218"/>
          </a:xfrm>
          <a:custGeom>
            <a:avLst/>
            <a:gdLst/>
            <a:ahLst/>
            <a:cxnLst/>
            <a:rect r="r" b="b" t="t" l="l"/>
            <a:pathLst>
              <a:path h="4180218" w="5746004">
                <a:moveTo>
                  <a:pt x="0" y="0"/>
                </a:moveTo>
                <a:lnTo>
                  <a:pt x="5746005" y="0"/>
                </a:lnTo>
                <a:lnTo>
                  <a:pt x="5746005" y="4180218"/>
                </a:lnTo>
                <a:lnTo>
                  <a:pt x="0" y="41802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7496" y="3373857"/>
            <a:ext cx="2473448" cy="4644973"/>
          </a:xfrm>
          <a:custGeom>
            <a:avLst/>
            <a:gdLst/>
            <a:ahLst/>
            <a:cxnLst/>
            <a:rect r="r" b="b" t="t" l="l"/>
            <a:pathLst>
              <a:path h="4644973" w="2473448">
                <a:moveTo>
                  <a:pt x="0" y="0"/>
                </a:moveTo>
                <a:lnTo>
                  <a:pt x="2473448" y="0"/>
                </a:lnTo>
                <a:lnTo>
                  <a:pt x="2473448" y="4644973"/>
                </a:lnTo>
                <a:lnTo>
                  <a:pt x="0" y="4644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41729" y="6814706"/>
            <a:ext cx="3726062" cy="4650312"/>
          </a:xfrm>
          <a:custGeom>
            <a:avLst/>
            <a:gdLst/>
            <a:ahLst/>
            <a:cxnLst/>
            <a:rect r="r" b="b" t="t" l="l"/>
            <a:pathLst>
              <a:path h="4650312" w="3726062">
                <a:moveTo>
                  <a:pt x="0" y="0"/>
                </a:moveTo>
                <a:lnTo>
                  <a:pt x="3726062" y="0"/>
                </a:lnTo>
                <a:lnTo>
                  <a:pt x="3726062" y="4650312"/>
                </a:lnTo>
                <a:lnTo>
                  <a:pt x="0" y="46503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06983">
            <a:off x="-992410" y="690818"/>
            <a:ext cx="2309480" cy="6349086"/>
          </a:xfrm>
          <a:custGeom>
            <a:avLst/>
            <a:gdLst/>
            <a:ahLst/>
            <a:cxnLst/>
            <a:rect r="r" b="b" t="t" l="l"/>
            <a:pathLst>
              <a:path h="6349086" w="2309480">
                <a:moveTo>
                  <a:pt x="0" y="0"/>
                </a:moveTo>
                <a:lnTo>
                  <a:pt x="2309480" y="0"/>
                </a:lnTo>
                <a:lnTo>
                  <a:pt x="2309480" y="6349086"/>
                </a:lnTo>
                <a:lnTo>
                  <a:pt x="0" y="63490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73073" y="734162"/>
            <a:ext cx="9306778" cy="328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67"/>
              </a:lnSpc>
            </a:pPr>
            <a:r>
              <a:rPr lang="en-US" sz="940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Societal &amp; Environmental Impact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78205" y="4457700"/>
            <a:ext cx="11385418" cy="480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Reduces human exposure to harmful waste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Promotes recycling and cleaner cities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Reduces landfill accumulation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Supports UN Sustainable Development Goals: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SDG 11: Sustainable Cities &amp; Communities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SDG 12: Responsible Consumption &amp; Production</a:t>
            </a:r>
          </a:p>
          <a:p>
            <a:pPr algn="just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SDG 13: Climate Action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  <a:r>
              <a:rPr lang="en-US" sz="3000" b="true">
                <a:solidFill>
                  <a:srgbClr val="49443E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Vision</a:t>
            </a: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:  AI as a force for environmental sustainability 🌱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915903">
            <a:off x="13913629" y="1711447"/>
            <a:ext cx="6165856" cy="6165856"/>
          </a:xfrm>
          <a:custGeom>
            <a:avLst/>
            <a:gdLst/>
            <a:ahLst/>
            <a:cxnLst/>
            <a:rect r="r" b="b" t="t" l="l"/>
            <a:pathLst>
              <a:path h="6165856" w="6165856">
                <a:moveTo>
                  <a:pt x="0" y="0"/>
                </a:moveTo>
                <a:lnTo>
                  <a:pt x="6165856" y="0"/>
                </a:lnTo>
                <a:lnTo>
                  <a:pt x="6165856" y="6165855"/>
                </a:lnTo>
                <a:lnTo>
                  <a:pt x="0" y="6165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463141" y="8792979"/>
            <a:ext cx="7149873" cy="3503438"/>
          </a:xfrm>
          <a:custGeom>
            <a:avLst/>
            <a:gdLst/>
            <a:ahLst/>
            <a:cxnLst/>
            <a:rect r="r" b="b" t="t" l="l"/>
            <a:pathLst>
              <a:path h="3503438" w="7149873">
                <a:moveTo>
                  <a:pt x="0" y="0"/>
                </a:moveTo>
                <a:lnTo>
                  <a:pt x="7149874" y="0"/>
                </a:lnTo>
                <a:lnTo>
                  <a:pt x="7149874" y="3503438"/>
                </a:lnTo>
                <a:lnTo>
                  <a:pt x="0" y="3503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80655" y="-1259766"/>
            <a:ext cx="3932360" cy="3111480"/>
          </a:xfrm>
          <a:custGeom>
            <a:avLst/>
            <a:gdLst/>
            <a:ahLst/>
            <a:cxnLst/>
            <a:rect r="r" b="b" t="t" l="l"/>
            <a:pathLst>
              <a:path h="3111480" w="3932360">
                <a:moveTo>
                  <a:pt x="0" y="0"/>
                </a:moveTo>
                <a:lnTo>
                  <a:pt x="3932360" y="0"/>
                </a:lnTo>
                <a:lnTo>
                  <a:pt x="3932360" y="3111480"/>
                </a:lnTo>
                <a:lnTo>
                  <a:pt x="0" y="3111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75153" y="-3683623"/>
            <a:ext cx="6362373" cy="5177381"/>
          </a:xfrm>
          <a:custGeom>
            <a:avLst/>
            <a:gdLst/>
            <a:ahLst/>
            <a:cxnLst/>
            <a:rect r="r" b="b" t="t" l="l"/>
            <a:pathLst>
              <a:path h="5177381" w="6362373">
                <a:moveTo>
                  <a:pt x="0" y="0"/>
                </a:moveTo>
                <a:lnTo>
                  <a:pt x="6362373" y="0"/>
                </a:lnTo>
                <a:lnTo>
                  <a:pt x="6362373" y="5177381"/>
                </a:lnTo>
                <a:lnTo>
                  <a:pt x="0" y="51773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65211">
            <a:off x="16146465" y="7245950"/>
            <a:ext cx="2698767" cy="4797807"/>
          </a:xfrm>
          <a:custGeom>
            <a:avLst/>
            <a:gdLst/>
            <a:ahLst/>
            <a:cxnLst/>
            <a:rect r="r" b="b" t="t" l="l"/>
            <a:pathLst>
              <a:path h="4797807" w="2698767">
                <a:moveTo>
                  <a:pt x="0" y="0"/>
                </a:moveTo>
                <a:lnTo>
                  <a:pt x="2698767" y="0"/>
                </a:lnTo>
                <a:lnTo>
                  <a:pt x="2698767" y="4797807"/>
                </a:lnTo>
                <a:lnTo>
                  <a:pt x="0" y="47978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3191101" y="6873539"/>
            <a:ext cx="1421914" cy="2384761"/>
          </a:xfrm>
          <a:custGeom>
            <a:avLst/>
            <a:gdLst/>
            <a:ahLst/>
            <a:cxnLst/>
            <a:rect r="r" b="b" t="t" l="l"/>
            <a:pathLst>
              <a:path h="2384761" w="1421914">
                <a:moveTo>
                  <a:pt x="1421914" y="0"/>
                </a:moveTo>
                <a:lnTo>
                  <a:pt x="0" y="0"/>
                </a:lnTo>
                <a:lnTo>
                  <a:pt x="0" y="2384761"/>
                </a:lnTo>
                <a:lnTo>
                  <a:pt x="1421914" y="2384761"/>
                </a:lnTo>
                <a:lnTo>
                  <a:pt x="1421914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46892" y="295974"/>
            <a:ext cx="4194216" cy="4204728"/>
          </a:xfrm>
          <a:custGeom>
            <a:avLst/>
            <a:gdLst/>
            <a:ahLst/>
            <a:cxnLst/>
            <a:rect r="r" b="b" t="t" l="l"/>
            <a:pathLst>
              <a:path h="4204728" w="4194216">
                <a:moveTo>
                  <a:pt x="0" y="0"/>
                </a:moveTo>
                <a:lnTo>
                  <a:pt x="4194216" y="0"/>
                </a:lnTo>
                <a:lnTo>
                  <a:pt x="4194216" y="4204728"/>
                </a:lnTo>
                <a:lnTo>
                  <a:pt x="0" y="42047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751198"/>
            <a:ext cx="6268716" cy="105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8481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457700"/>
            <a:ext cx="12162401" cy="426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RecycLens proves CNNs can intelligently classify waste for recycling.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Prototype demonstrates potential for industrial automation.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49443E"/>
                </a:solidFill>
                <a:latin typeface="Georgia Pro"/>
                <a:ea typeface="Georgia Pro"/>
                <a:cs typeface="Georgia Pro"/>
                <a:sym typeface="Georgia Pro"/>
              </a:rPr>
              <a:t>AI-driven systems like this can revolutionize waste management, reduce pollution, and promote a circular economy.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9443E"/>
                </a:solidFill>
                <a:latin typeface="Gagalin"/>
                <a:ea typeface="Gagalin"/>
                <a:cs typeface="Gagalin"/>
                <a:sym typeface="Gagalin"/>
              </a:rPr>
              <a:t>“From Trash to Tech — Empowering the Planet with AI.”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63976" y="2496685"/>
            <a:ext cx="2898263" cy="5293630"/>
          </a:xfrm>
          <a:custGeom>
            <a:avLst/>
            <a:gdLst/>
            <a:ahLst/>
            <a:cxnLst/>
            <a:rect r="r" b="b" t="t" l="l"/>
            <a:pathLst>
              <a:path h="5293630" w="2898263">
                <a:moveTo>
                  <a:pt x="0" y="0"/>
                </a:moveTo>
                <a:lnTo>
                  <a:pt x="2898263" y="0"/>
                </a:lnTo>
                <a:lnTo>
                  <a:pt x="2898263" y="5293630"/>
                </a:lnTo>
                <a:lnTo>
                  <a:pt x="0" y="5293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959666" y="4443104"/>
            <a:ext cx="11504310" cy="2511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00"/>
              </a:lnSpc>
            </a:pPr>
            <a:r>
              <a:rPr lang="en-US" sz="20000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Thank you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4816782"/>
            <a:ext cx="5354046" cy="3457757"/>
            <a:chOff x="0" y="0"/>
            <a:chExt cx="1410119" cy="9106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10119" cy="910685"/>
            </a:xfrm>
            <a:custGeom>
              <a:avLst/>
              <a:gdLst/>
              <a:ahLst/>
              <a:cxnLst/>
              <a:rect r="r" b="b" t="t" l="l"/>
              <a:pathLst>
                <a:path h="910685" w="1410119">
                  <a:moveTo>
                    <a:pt x="0" y="0"/>
                  </a:moveTo>
                  <a:lnTo>
                    <a:pt x="1410119" y="0"/>
                  </a:lnTo>
                  <a:lnTo>
                    <a:pt x="1410119" y="910685"/>
                  </a:lnTo>
                  <a:lnTo>
                    <a:pt x="0" y="9106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9603B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410119" cy="967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026249" y="4816782"/>
            <a:ext cx="10233051" cy="3457757"/>
            <a:chOff x="0" y="0"/>
            <a:chExt cx="2695124" cy="9106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95124" cy="910685"/>
            </a:xfrm>
            <a:custGeom>
              <a:avLst/>
              <a:gdLst/>
              <a:ahLst/>
              <a:cxnLst/>
              <a:rect r="r" b="b" t="t" l="l"/>
              <a:pathLst>
                <a:path h="910685" w="2695124">
                  <a:moveTo>
                    <a:pt x="0" y="0"/>
                  </a:moveTo>
                  <a:lnTo>
                    <a:pt x="2695124" y="0"/>
                  </a:lnTo>
                  <a:lnTo>
                    <a:pt x="2695124" y="910685"/>
                  </a:lnTo>
                  <a:lnTo>
                    <a:pt x="0" y="9106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9603B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695124" cy="967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3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295786" y="5308347"/>
            <a:ext cx="2474627" cy="2474627"/>
          </a:xfrm>
          <a:custGeom>
            <a:avLst/>
            <a:gdLst/>
            <a:ahLst/>
            <a:cxnLst/>
            <a:rect r="r" b="b" t="t" l="l"/>
            <a:pathLst>
              <a:path h="2474627" w="2474627">
                <a:moveTo>
                  <a:pt x="0" y="0"/>
                </a:moveTo>
                <a:lnTo>
                  <a:pt x="2474627" y="0"/>
                </a:lnTo>
                <a:lnTo>
                  <a:pt x="2474627" y="2474627"/>
                </a:lnTo>
                <a:lnTo>
                  <a:pt x="0" y="2474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02435" y="5273347"/>
            <a:ext cx="925608" cy="2544625"/>
          </a:xfrm>
          <a:custGeom>
            <a:avLst/>
            <a:gdLst/>
            <a:ahLst/>
            <a:cxnLst/>
            <a:rect r="r" b="b" t="t" l="l"/>
            <a:pathLst>
              <a:path h="2544625" w="925608">
                <a:moveTo>
                  <a:pt x="0" y="0"/>
                </a:moveTo>
                <a:lnTo>
                  <a:pt x="925608" y="0"/>
                </a:lnTo>
                <a:lnTo>
                  <a:pt x="925608" y="2544626"/>
                </a:lnTo>
                <a:lnTo>
                  <a:pt x="0" y="254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69748" y="5373076"/>
            <a:ext cx="1876122" cy="2341494"/>
          </a:xfrm>
          <a:custGeom>
            <a:avLst/>
            <a:gdLst/>
            <a:ahLst/>
            <a:cxnLst/>
            <a:rect r="r" b="b" t="t" l="l"/>
            <a:pathLst>
              <a:path h="2341494" w="1876122">
                <a:moveTo>
                  <a:pt x="0" y="0"/>
                </a:moveTo>
                <a:lnTo>
                  <a:pt x="1876122" y="0"/>
                </a:lnTo>
                <a:lnTo>
                  <a:pt x="1876122" y="2341494"/>
                </a:lnTo>
                <a:lnTo>
                  <a:pt x="0" y="23414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707795" y="5373076"/>
            <a:ext cx="1281968" cy="2341494"/>
          </a:xfrm>
          <a:custGeom>
            <a:avLst/>
            <a:gdLst/>
            <a:ahLst/>
            <a:cxnLst/>
            <a:rect r="r" b="b" t="t" l="l"/>
            <a:pathLst>
              <a:path h="2341494" w="1281968">
                <a:moveTo>
                  <a:pt x="0" y="0"/>
                </a:moveTo>
                <a:lnTo>
                  <a:pt x="1281968" y="0"/>
                </a:lnTo>
                <a:lnTo>
                  <a:pt x="1281968" y="2341494"/>
                </a:lnTo>
                <a:lnTo>
                  <a:pt x="0" y="23414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1076934"/>
            <a:ext cx="4510106" cy="1774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30"/>
              </a:lnSpc>
            </a:pPr>
            <a:r>
              <a:rPr lang="en-US" sz="7449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teacher resources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952563"/>
            <a:ext cx="5827064" cy="42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4"/>
              </a:lnSpc>
            </a:pPr>
            <a:r>
              <a:rPr lang="en-US" sz="2453">
                <a:solidFill>
                  <a:srgbClr val="49443E"/>
                </a:solidFill>
                <a:latin typeface="VAG Rounded Next"/>
                <a:ea typeface="VAG Rounded Next"/>
                <a:cs typeface="VAG Rounded Next"/>
                <a:sym typeface="VAG Rounded Next"/>
              </a:rPr>
              <a:t>Create your own slides with these elements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59356" y="6154454"/>
            <a:ext cx="3679450" cy="76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9"/>
              </a:lnSpc>
            </a:pPr>
            <a:r>
              <a:rPr lang="en-US" sz="6077">
                <a:solidFill>
                  <a:srgbClr val="39603B"/>
                </a:solidFill>
                <a:latin typeface="Bobby Jones Soft"/>
                <a:ea typeface="Bobby Jones Soft"/>
                <a:cs typeface="Bobby Jones Soft"/>
                <a:sym typeface="Bobby Jones Soft"/>
              </a:rPr>
              <a:t>Titles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67369" y="6675330"/>
            <a:ext cx="2076708" cy="42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sz="2453">
                <a:solidFill>
                  <a:srgbClr val="49443E"/>
                </a:solidFill>
                <a:latin typeface="VAG Rounded Next"/>
                <a:ea typeface="VAG Rounded Next"/>
                <a:cs typeface="VAG Rounded Next"/>
                <a:sym typeface="VAG Rounded Next"/>
              </a:rPr>
              <a:t>Body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94351" y="4282811"/>
            <a:ext cx="3022744" cy="42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sz="2453" b="true">
                <a:solidFill>
                  <a:srgbClr val="39603B"/>
                </a:solidFill>
                <a:latin typeface="VAG Rounded Next Bold"/>
                <a:ea typeface="VAG Rounded Next Bold"/>
                <a:cs typeface="VAG Rounded Next Bold"/>
                <a:sym typeface="VAG Rounded Next Bold"/>
              </a:rPr>
              <a:t>Fonts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31403" y="4282811"/>
            <a:ext cx="3022744" cy="42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4"/>
              </a:lnSpc>
            </a:pPr>
            <a:r>
              <a:rPr lang="en-US" sz="2453" b="true">
                <a:solidFill>
                  <a:srgbClr val="39603B"/>
                </a:solidFill>
                <a:latin typeface="VAG Rounded Next Bold"/>
                <a:ea typeface="VAG Rounded Next Bold"/>
                <a:cs typeface="VAG Rounded Next Bold"/>
                <a:sym typeface="VAG Rounded Next Bold"/>
              </a:rPr>
              <a:t>Elements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DAG3TlljcGE</dc:identifier>
  <dcterms:modified xsi:type="dcterms:W3CDTF">2011-08-01T06:04:30Z</dcterms:modified>
  <cp:revision>1</cp:revision>
  <dc:title>Recyclens</dc:title>
</cp:coreProperties>
</file>